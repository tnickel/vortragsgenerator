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Herzlich willkommen! Heute möchte ich Ihnen ein Werkzeug vorstellen, das die Art und Weise, wie wir Präsentationen und Videos erstellen, grundlegend verändert: den Vortragsgenerator. Stellen Sie sich vor, Sie haben eine Idee für ein Thema, und in nur wenigen Minuten haben Sie nicht nur fertige Folien, sondern ein komplett vertontes Video mit Ihrer eigenen Stimme. Ganz ohne technisches Vorwissen. Lassen Sie uns gemeinsam entdecken, wie einfach das funktioniert!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von uns kennt es: Man muss einen Vortrag halten oder ein Erklärvideo erstellen. Erst recherchiert man stundenlang, dann quält man sich mit dem Design der Folien, schreibt ewig am Redetext und am Ende muss man das Ganze auch noch einsprechen und mit einem Videoschnittprogramm schneiden. Das kostet Tage und oft auch den letzten Nerv. Der Vortragsgenerator löst all diese Probleme auf einmal.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Vision hinter dem Vortragsgenerator ist bestechend einfach: Sie geben lediglich das Thema oder eine Idee in Form eines kurzen Textes ein. Den Rest erledigt das System für Sie. Es recherchiert, strukturiert die Inhalte, designt die Folien, formuliert den gesprochenen Text aus und vertont das fertige Video. Am Ende erhalten Sie eine PowerPoint-Datei und ein fertiges Video.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Alles beginnt mit der Prompt-Eingabe. Ein Prompt ist nichts anderes als eine Beschreibung in normaler deutscher Sprache. Sie müssen keine komplizierten Befehle kennen. Schreiben Sie einfach auf, worüber Sie sprechen möchten, wen Sie ansprechen wollen und welchen Stil Sie bevorzugen. Das System versteht Sie und passt den gesamten Vortrag darauf 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Nachdem Sie den Prompt abgeschickt haben, geht die KI für Sie auf Entdeckungsreise im Web. Sie sucht nach aktuellen Zahlen, Daten und Fakten zu Ihrem Thema. So wird sichergestellt, dass Ihr Vortrag auf echten und aktuellen Informationen basiert, ohne dass Sie selbst stundenlang Suchmaschinen durchforsten müssen.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Basierend auf den recherchierten Daten erstellt das System eine logische Gliederung. Es teilt das Thema in mundgerechte Folien auf, formuliert prägnante Überschriften und Stichpunkte. Jede Folie konzentriert sich auf ein bis zwei Kernbotschaften, damit Ihr Publikum dem Vortrag mühelos folgen kann.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Gleichzeitig mit den Folien schreibt die KI den genauen Sprechtext für Sie. Dieser Text steht später in den 'Notizen' der Präsentation. Der Stil ist extra so formuliert, dass er gesprochen natürlich und lebendig klingt – er ergänzt die Stichpunkte auf der Folie, anstatt sie einfach nur platt vorzulesen.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Präsentation lebt von Bildern. Der Vortragsgenerator wählt automatisch aus einer Bibliothek von liebevoll gestalteten Maskottchen-Illustrationen das Bild aus, das inhaltlich am besten zu Ihrer Folie passt. Das sorgt für ein einheitliches, modernes Design und lockert das Thema sympathisch auf.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 möchten Ihre eigenen Produktbilder, Screenshots oder Teamfotos zeigen? Kein Problem! Sie können eigene Bilddateien hochladen und der KI kurz beschreiben, was darauf zu sehen ist. Die KI versteht diese Beschreibungen und platziert Ihre Bilder genau auf den passenden Folien im Vortrag.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den Ton arbeitet der Vortragsgenerator mit ElevenLabs zusammen, der besten KI-Stimmen-Technologie auf dem Markt. Ihre Präsentation wird nicht von einem Roboter vorgelesen, sondern klingt absolut professionell, lebendig und flüssig – mit den richtigen Betonungen und natürlichem Sprechtempo.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absolute Highlight: Sie können Ihre eigene Stimme klonen! Laden Sie einfach eine kurze Sprachaufnahme von sich hoch. ElevenLabs erstellt daraus ein digitales Stimmprofil. Der Vortragsgenerator liest die Sprechtexte dann mit Ihrer geklonten Stimme vor. So klingt das Video am Ende exakt so, als hätten Sie es selbst eingesprochen.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Hintergrund läuft ein vollautomatischer Videoschnitt. Der Generator nimmt das Bild jeder Folie, legt die passende Audiospur darunter, ermittelt die exakte Länge der gesprochenen Worte und erstellt daraus einen Video-Clip. Am Ende werden diese Clips nahtlos zu einem flüssigen Gesamtvideo im MP4-Format zusammengefügt.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 erhalten nicht nur ein fertiges Video, sondern können auch die PowerPoint-Datei selbst herunterladen. Alle Folien, Überschriften, Stichpunkte und Sprechtexte in den Notizen sind editierbar. So können Sie vor einem Live-Vortrag noch schnell Anpassungen vornehmen oder Ihr Firmenlogo einbauen.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Vortragsgenerator verfügt über eine eingebaute Versionsverwaltung. Sie können einen bestehenden Vortrag einfach duplizieren, den Prompt anpassen und eine neue Version generieren lassen. So können Sie verschiedene Ideen oder Zielgruppen-Formulierungen spielerisch vergleichen, ohne Ihren alten Stand zu verlieren.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Datenschutz und Geschwindigkeit werden großgeschrieben. Alle Ihre Projekte, Texte und Einstellungen werden in einer lokalen Datenbank direkt auf Ihrem Computer gespeichert. Ihre Prompts werden in einer Historie gesichert, so dass Sie einmal geschriebene Prompts jederzeit wiederverwenden können.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Haben Sie bereits fertige Folien, die Sie vertonen möchten? Auch das ist möglich! Laden Sie einfach Ihre bestehende PowerPoint-Datei hoch. Das System importiert die Folienstruktur, und Sie können im Editor Sprechtexte ergänzen und das Video direkt generieren lassen.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Nutzen liegt auf der Hand: Sie sparen bis zu 90% der Zeit, die Sie normalerweise für die Erstellung eines Vortrags benötigen würden. Die KI nimmt Ihnen die Schreibblockade und die Fleißarbeit ab. Sie können sich voll und ganz auf den Inhalt und die Botschaft konzentrieren.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Einsatzmöglichkeiten sind grenzenlos. Ob Sie neue Mitarbeiter einarbeiten möchten, ein Produkt für Kunden erklären, ein Schulreferat vorbereiten oder kurze Erklärvideos für soziale Medien erstellen wollen – der Vortragsgenerator ist Ihr universeller Begleiter.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legen Sie los? In nur drei einfachen Schritten: Tragen Sie Ihre API-Keys in den Einstellungen ein. Geben Sie Ihren Prompt ein. Klicken Sie auf 'Generieren'. Nach wenigen Minuten halten Sie Ihr fertiges Video und Ihre PowerPoint-Präsentation in den Händen. Es ist wirklich so einfach!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Zusammenfassend lässt sich sagen: Der Vortragsgenerator demokratisiert die Videoerstellung. Sie benötigen kein teures Aufnahme-Equipment, keine Sprecherausbildung und kein Schnittprogramm. Probieren Sie es selbst aus, erstellen Sie Ihren ersten Vortrag und begeistern Sie Ihr Publikum! Vielen Dank für Ihre Aufmerksamkeit.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 von 20</a:t>
            </a:r>
          </a:p>
        </p:txBody>
      </p:sp>
      <p:sp>
        <p:nvSpPr>
          <p:cNvPr id="4" name="Rectangle 3"/>
          <p:cNvSpPr/>
          <p:nvPr/>
        </p:nvSpPr>
        <p:spPr>
          <a:xfrm>
            <a:off x="0" y="0"/>
            <a:ext cx="365760" cy="6858000"/>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11680"/>
            <a:ext cx="5669280" cy="3200400"/>
          </a:xfrm>
          <a:prstGeom prst="rect">
            <a:avLst/>
          </a:prstGeom>
          <a:noFill/>
        </p:spPr>
        <p:txBody>
          <a:bodyPr wrap="square">
            <a:spAutoFit/>
          </a:bodyPr>
          <a:lstStyle/>
          <a:p>
            <a:pPr>
              <a:spcAft>
                <a:spcPts val="2000"/>
              </a:spcAft>
              <a:defRPr sz="4400" b="1">
                <a:solidFill>
                  <a:srgbClr val="1E2152"/>
                </a:solidFill>
                <a:latin typeface="Arial"/>
              </a:defRPr>
            </a:pPr>
            <a:r>
              <a:t>Der Vortragsgenerator</a:t>
            </a:r>
          </a:p>
          <a:p>
            <a:pPr>
              <a:defRPr sz="2000">
                <a:solidFill>
                  <a:srgbClr val="5B5FE0"/>
                </a:solidFill>
                <a:latin typeface="Arial"/>
              </a:defRPr>
            </a:pPr>
            <a:r>
              <a:t>Vom Gedanken zum fertigen Video – vollautomatisch und kinderleicht</a:t>
            </a:r>
          </a:p>
        </p:txBody>
      </p:sp>
      <p:pic>
        <p:nvPicPr>
          <p:cNvPr id="6" name="Picture 5" descr="mascot_hello.png"/>
          <p:cNvPicPr>
            <a:picLocks noChangeAspect="1"/>
          </p:cNvPicPr>
          <p:nvPr/>
        </p:nvPicPr>
        <p:blipFill>
          <a:blip r:embed="rId3"/>
          <a:stretch>
            <a:fillRect/>
          </a:stretch>
        </p:blipFill>
        <p:spPr>
          <a:xfrm>
            <a:off x="6583680" y="1097280"/>
            <a:ext cx="457200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2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Das Problem klassischer Vorträge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Stundenlange Recherche in Suchmaschinen</a:t>
            </a:r>
          </a:p>
          <a:p>
            <a:pPr>
              <a:spcBef>
                <a:spcPts val="600"/>
              </a:spcBef>
              <a:spcAft>
                <a:spcPts val="1200"/>
              </a:spcAft>
              <a:defRPr sz="1600">
                <a:solidFill>
                  <a:srgbClr val="1E2152"/>
                </a:solidFill>
                <a:latin typeface="Arial"/>
              </a:defRPr>
            </a:pPr>
            <a:r>
              <a:t>Mühsame Gestaltung von PowerPoint-Folien</a:t>
            </a:r>
          </a:p>
          <a:p>
            <a:pPr>
              <a:spcBef>
                <a:spcPts val="600"/>
              </a:spcBef>
              <a:spcAft>
                <a:spcPts val="1200"/>
              </a:spcAft>
              <a:defRPr sz="1600">
                <a:solidFill>
                  <a:srgbClr val="1E2152"/>
                </a:solidFill>
                <a:latin typeface="Arial"/>
              </a:defRPr>
            </a:pPr>
            <a:r>
              <a:t>Schreiben von Redetexten kostet Zeit und Nerven</a:t>
            </a:r>
          </a:p>
          <a:p>
            <a:pPr>
              <a:spcBef>
                <a:spcPts val="600"/>
              </a:spcBef>
              <a:spcAft>
                <a:spcPts val="1200"/>
              </a:spcAft>
              <a:defRPr sz="1600">
                <a:solidFill>
                  <a:srgbClr val="1E2152"/>
                </a:solidFill>
                <a:latin typeface="Arial"/>
              </a:defRPr>
            </a:pPr>
            <a:r>
              <a:t>Manuelle Video- und Audio-Bearbeitung ist kompliziert</a:t>
            </a:r>
          </a:p>
        </p:txBody>
      </p:sp>
      <p:pic>
        <p:nvPicPr>
          <p:cNvPr id="7" name="Picture 6" descr="paper_chaos.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3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Die Vision – Alles aus einer Hand</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Ein einziger Text-Prompt startet den Prozess</a:t>
            </a:r>
          </a:p>
          <a:p>
            <a:pPr>
              <a:spcBef>
                <a:spcPts val="600"/>
              </a:spcBef>
              <a:spcAft>
                <a:spcPts val="1200"/>
              </a:spcAft>
              <a:defRPr sz="1600">
                <a:solidFill>
                  <a:srgbClr val="1E2152"/>
                </a:solidFill>
                <a:latin typeface="Arial"/>
              </a:defRPr>
            </a:pPr>
            <a:r>
              <a:t>Autonome Recherche im Hintergrund</a:t>
            </a:r>
          </a:p>
          <a:p>
            <a:pPr>
              <a:spcBef>
                <a:spcPts val="600"/>
              </a:spcBef>
              <a:spcAft>
                <a:spcPts val="1200"/>
              </a:spcAft>
              <a:defRPr sz="1600">
                <a:solidFill>
                  <a:srgbClr val="1E2152"/>
                </a:solidFill>
                <a:latin typeface="Arial"/>
              </a:defRPr>
            </a:pPr>
            <a:r>
              <a:t>Automatischer Folien-Entwurf und Layout</a:t>
            </a:r>
          </a:p>
          <a:p>
            <a:pPr>
              <a:spcBef>
                <a:spcPts val="600"/>
              </a:spcBef>
              <a:spcAft>
                <a:spcPts val="1200"/>
              </a:spcAft>
              <a:defRPr sz="1600">
                <a:solidFill>
                  <a:srgbClr val="1E2152"/>
                </a:solidFill>
                <a:latin typeface="Arial"/>
              </a:defRPr>
            </a:pPr>
            <a:r>
              <a:t>Natürliche Vertonung mit geklonter Stimme</a:t>
            </a:r>
          </a:p>
        </p:txBody>
      </p:sp>
      <p:pic>
        <p:nvPicPr>
          <p:cNvPr id="7" name="Picture 6" descr="speed_boost.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4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Das Herzstück – Der Prompt-Eingabe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Einfache, menschliche Sprache genügt</a:t>
            </a:r>
          </a:p>
          <a:p>
            <a:pPr>
              <a:spcBef>
                <a:spcPts val="600"/>
              </a:spcBef>
              <a:spcAft>
                <a:spcPts val="1200"/>
              </a:spcAft>
              <a:defRPr sz="1600">
                <a:solidFill>
                  <a:srgbClr val="1E2152"/>
                </a:solidFill>
                <a:latin typeface="Arial"/>
              </a:defRPr>
            </a:pPr>
            <a:r>
              <a:t>Keine Programmierkenntnisse oder Fachbegriffe nötig</a:t>
            </a:r>
          </a:p>
          <a:p>
            <a:pPr>
              <a:spcBef>
                <a:spcPts val="600"/>
              </a:spcBef>
              <a:spcAft>
                <a:spcPts val="1200"/>
              </a:spcAft>
              <a:defRPr sz="1600">
                <a:solidFill>
                  <a:srgbClr val="1E2152"/>
                </a:solidFill>
                <a:latin typeface="Arial"/>
              </a:defRPr>
            </a:pPr>
            <a:r>
              <a:t>Definiere Zielgruppe, Tonfall und Schwerpunkte</a:t>
            </a:r>
          </a:p>
          <a:p>
            <a:pPr>
              <a:spcBef>
                <a:spcPts val="600"/>
              </a:spcBef>
              <a:spcAft>
                <a:spcPts val="1200"/>
              </a:spcAft>
              <a:defRPr sz="1600">
                <a:solidFill>
                  <a:srgbClr val="1E2152"/>
                </a:solidFill>
                <a:latin typeface="Arial"/>
              </a:defRPr>
            </a:pPr>
            <a:r>
              <a:t>Beispiel: 'Erkläre Quantencomputer für Schüler'</a:t>
            </a:r>
          </a:p>
        </p:txBody>
      </p:sp>
      <p:pic>
        <p:nvPicPr>
          <p:cNvPr id="7" name="Picture 6" descr="mascot_think.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5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Autonome Web-Recherche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Die KI sucht im Internet nach aktuellen Fakten</a:t>
            </a:r>
          </a:p>
          <a:p>
            <a:pPr>
              <a:spcBef>
                <a:spcPts val="600"/>
              </a:spcBef>
              <a:spcAft>
                <a:spcPts val="1200"/>
              </a:spcAft>
              <a:defRPr sz="1600">
                <a:solidFill>
                  <a:srgbClr val="1E2152"/>
                </a:solidFill>
                <a:latin typeface="Arial"/>
              </a:defRPr>
            </a:pPr>
            <a:r>
              <a:t>Verwendung von verlässlichen Quellen</a:t>
            </a:r>
          </a:p>
          <a:p>
            <a:pPr>
              <a:spcBef>
                <a:spcPts val="600"/>
              </a:spcBef>
              <a:spcAft>
                <a:spcPts val="1200"/>
              </a:spcAft>
              <a:defRPr sz="1600">
                <a:solidFill>
                  <a:srgbClr val="1E2152"/>
                </a:solidFill>
                <a:latin typeface="Arial"/>
              </a:defRPr>
            </a:pPr>
            <a:r>
              <a:t>Strukturierung der Informationen im Hintergrund</a:t>
            </a:r>
          </a:p>
          <a:p>
            <a:pPr>
              <a:spcBef>
                <a:spcPts val="600"/>
              </a:spcBef>
              <a:spcAft>
                <a:spcPts val="1200"/>
              </a:spcAft>
              <a:defRPr sz="1600">
                <a:solidFill>
                  <a:srgbClr val="1E2152"/>
                </a:solidFill>
                <a:latin typeface="Arial"/>
              </a:defRPr>
            </a:pPr>
            <a:r>
              <a:t>Keine veralteten Daten oder 'Halluzinationen'</a:t>
            </a:r>
          </a:p>
        </p:txBody>
      </p:sp>
      <p:pic>
        <p:nvPicPr>
          <p:cNvPr id="7" name="Picture 6" descr="research_you.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6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Automatische Folienerstellung</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Generierung einer sauberen Präsentationsstruktur</a:t>
            </a:r>
          </a:p>
          <a:p>
            <a:pPr>
              <a:spcBef>
                <a:spcPts val="600"/>
              </a:spcBef>
              <a:spcAft>
                <a:spcPts val="1200"/>
              </a:spcAft>
              <a:defRPr sz="1600">
                <a:solidFill>
                  <a:srgbClr val="1E2152"/>
                </a:solidFill>
                <a:latin typeface="Arial"/>
              </a:defRPr>
            </a:pPr>
            <a:r>
              <a:t>Automatische Aufteilung in sinnvolle Abschnitte</a:t>
            </a:r>
          </a:p>
          <a:p>
            <a:pPr>
              <a:spcBef>
                <a:spcPts val="600"/>
              </a:spcBef>
              <a:spcAft>
                <a:spcPts val="1200"/>
              </a:spcAft>
              <a:defRPr sz="1600">
                <a:solidFill>
                  <a:srgbClr val="1E2152"/>
                </a:solidFill>
                <a:latin typeface="Arial"/>
              </a:defRPr>
            </a:pPr>
            <a:r>
              <a:t>Verteilung von Kernaussagen auf die Folien</a:t>
            </a:r>
          </a:p>
          <a:p>
            <a:pPr>
              <a:spcBef>
                <a:spcPts val="600"/>
              </a:spcBef>
              <a:spcAft>
                <a:spcPts val="1200"/>
              </a:spcAft>
              <a:defRPr sz="1600">
                <a:solidFill>
                  <a:srgbClr val="1E2152"/>
                </a:solidFill>
                <a:latin typeface="Arial"/>
              </a:defRPr>
            </a:pPr>
            <a:r>
              <a:t>Fokus auf Lesbarkeit und Übersichtlichkeit</a:t>
            </a:r>
          </a:p>
        </p:txBody>
      </p:sp>
      <p:pic>
        <p:nvPicPr>
          <p:cNvPr id="7" name="Picture 6" descr="toolbox.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7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Der Redetext (Speaker Notes)</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Jede Folie erhält einen maßgeschneiderten Redetext</a:t>
            </a:r>
          </a:p>
          <a:p>
            <a:pPr>
              <a:spcBef>
                <a:spcPts val="600"/>
              </a:spcBef>
              <a:spcAft>
                <a:spcPts val="1200"/>
              </a:spcAft>
              <a:defRPr sz="1600">
                <a:solidFill>
                  <a:srgbClr val="1E2152"/>
                </a:solidFill>
                <a:latin typeface="Arial"/>
              </a:defRPr>
            </a:pPr>
            <a:r>
              <a:t>Flüssig geschriebener Sprechstil (kein Vorlesen der Folien)</a:t>
            </a:r>
          </a:p>
          <a:p>
            <a:pPr>
              <a:spcBef>
                <a:spcPts val="600"/>
              </a:spcBef>
              <a:spcAft>
                <a:spcPts val="1200"/>
              </a:spcAft>
              <a:defRPr sz="1600">
                <a:solidFill>
                  <a:srgbClr val="1E2152"/>
                </a:solidFill>
                <a:latin typeface="Arial"/>
              </a:defRPr>
            </a:pPr>
            <a:r>
              <a:t>Perfekt abgestimmt auf die visuellen Inhalte</a:t>
            </a:r>
          </a:p>
          <a:p>
            <a:pPr>
              <a:spcBef>
                <a:spcPts val="600"/>
              </a:spcBef>
              <a:spcAft>
                <a:spcPts val="1200"/>
              </a:spcAft>
              <a:defRPr sz="1600">
                <a:solidFill>
                  <a:srgbClr val="1E2152"/>
                </a:solidFill>
                <a:latin typeface="Arial"/>
              </a:defRPr>
            </a:pPr>
            <a:r>
              <a:t>Individuell anpassbar vor der Vertonung</a:t>
            </a:r>
          </a:p>
        </p:txBody>
      </p:sp>
      <p:pic>
        <p:nvPicPr>
          <p:cNvPr id="7" name="Picture 6" descr="conductor.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8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Premium Bilder für jede Folie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Automatische Auswahl passender Grafiken</a:t>
            </a:r>
          </a:p>
          <a:p>
            <a:pPr>
              <a:spcBef>
                <a:spcPts val="600"/>
              </a:spcBef>
              <a:spcAft>
                <a:spcPts val="1200"/>
              </a:spcAft>
              <a:defRPr sz="1600">
                <a:solidFill>
                  <a:srgbClr val="1E2152"/>
                </a:solidFill>
                <a:latin typeface="Arial"/>
              </a:defRPr>
            </a:pPr>
            <a:r>
              <a:t>Harmonische Farbpaletten und Premium-Optik</a:t>
            </a:r>
          </a:p>
          <a:p>
            <a:pPr>
              <a:spcBef>
                <a:spcPts val="600"/>
              </a:spcBef>
              <a:spcAft>
                <a:spcPts val="1200"/>
              </a:spcAft>
              <a:defRPr sz="1600">
                <a:solidFill>
                  <a:srgbClr val="1E2152"/>
                </a:solidFill>
                <a:latin typeface="Arial"/>
              </a:defRPr>
            </a:pPr>
            <a:r>
              <a:t>Vermeidung von langweiligen Standard-Stockfotos</a:t>
            </a:r>
          </a:p>
          <a:p>
            <a:pPr>
              <a:spcBef>
                <a:spcPts val="600"/>
              </a:spcBef>
              <a:spcAft>
                <a:spcPts val="1200"/>
              </a:spcAft>
              <a:defRPr sz="1600">
                <a:solidFill>
                  <a:srgbClr val="1E2152"/>
                </a:solidFill>
                <a:latin typeface="Arial"/>
              </a:defRPr>
            </a:pPr>
            <a:r>
              <a:t>Sympathische Mascot-Illustrationen lockern auf</a:t>
            </a:r>
          </a:p>
        </p:txBody>
      </p:sp>
      <p:pic>
        <p:nvPicPr>
          <p:cNvPr id="7" name="Picture 6" descr="mascot_hello.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9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Eigene Bilder &amp; Screenshots hinzufügen</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Lade eigene Grafiken oder Fotos hoch</a:t>
            </a:r>
          </a:p>
          <a:p>
            <a:pPr>
              <a:spcBef>
                <a:spcPts val="600"/>
              </a:spcBef>
              <a:spcAft>
                <a:spcPts val="1200"/>
              </a:spcAft>
              <a:defRPr sz="1600">
                <a:solidFill>
                  <a:srgbClr val="1E2152"/>
                </a:solidFill>
                <a:latin typeface="Arial"/>
              </a:defRPr>
            </a:pPr>
            <a:r>
              <a:t>Füge eine kurze Erklärung für die KI hinzu</a:t>
            </a:r>
          </a:p>
          <a:p>
            <a:pPr>
              <a:spcBef>
                <a:spcPts val="600"/>
              </a:spcBef>
              <a:spcAft>
                <a:spcPts val="1200"/>
              </a:spcAft>
              <a:defRPr sz="1600">
                <a:solidFill>
                  <a:srgbClr val="1E2152"/>
                </a:solidFill>
                <a:latin typeface="Arial"/>
              </a:defRPr>
            </a:pPr>
            <a:r>
              <a:t>Die KI bindet die Bilder intelligent in die Folien ein</a:t>
            </a:r>
          </a:p>
          <a:p>
            <a:pPr>
              <a:spcBef>
                <a:spcPts val="600"/>
              </a:spcBef>
              <a:spcAft>
                <a:spcPts val="1200"/>
              </a:spcAft>
              <a:defRPr sz="1600">
                <a:solidFill>
                  <a:srgbClr val="1E2152"/>
                </a:solidFill>
                <a:latin typeface="Arial"/>
              </a:defRPr>
            </a:pPr>
            <a:r>
              <a:t>Ideal für Produkt-Demos, Logos oder Beispieldateien</a:t>
            </a:r>
          </a:p>
        </p:txBody>
      </p:sp>
      <p:pic>
        <p:nvPicPr>
          <p:cNvPr id="7" name="Picture 6" descr="toolbox.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10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ElevenLabs – Die Stimme des Vortrags</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Einbindung der weltweit führenden Stimmsynthese</a:t>
            </a:r>
          </a:p>
          <a:p>
            <a:pPr>
              <a:spcBef>
                <a:spcPts val="600"/>
              </a:spcBef>
              <a:spcAft>
                <a:spcPts val="1200"/>
              </a:spcAft>
              <a:defRPr sz="1600">
                <a:solidFill>
                  <a:srgbClr val="1E2152"/>
                </a:solidFill>
                <a:latin typeface="Arial"/>
              </a:defRPr>
            </a:pPr>
            <a:r>
              <a:t>Kristallklare Tonqualität ohne Rauschen</a:t>
            </a:r>
          </a:p>
          <a:p>
            <a:pPr>
              <a:spcBef>
                <a:spcPts val="600"/>
              </a:spcBef>
              <a:spcAft>
                <a:spcPts val="1200"/>
              </a:spcAft>
              <a:defRPr sz="1600">
                <a:solidFill>
                  <a:srgbClr val="1E2152"/>
                </a:solidFill>
                <a:latin typeface="Arial"/>
              </a:defRPr>
            </a:pPr>
            <a:r>
              <a:t>Natürliche Betonung, Pausen und Atmer</a:t>
            </a:r>
          </a:p>
          <a:p>
            <a:pPr>
              <a:spcBef>
                <a:spcPts val="600"/>
              </a:spcBef>
              <a:spcAft>
                <a:spcPts val="1200"/>
              </a:spcAft>
              <a:defRPr sz="1600">
                <a:solidFill>
                  <a:srgbClr val="1E2152"/>
                </a:solidFill>
                <a:latin typeface="Arial"/>
              </a:defRPr>
            </a:pPr>
            <a:r>
              <a:t>Unterstützung für über 29 Sprachen</a:t>
            </a:r>
          </a:p>
        </p:txBody>
      </p:sp>
      <p:pic>
        <p:nvPicPr>
          <p:cNvPr id="7" name="Picture 6" descr="pc_doctor.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11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Instant Voice Cloning – Deine eigene Stimme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Klonen der eigenen Stimme in unter 2 Minuten</a:t>
            </a:r>
          </a:p>
          <a:p>
            <a:pPr>
              <a:spcBef>
                <a:spcPts val="600"/>
              </a:spcBef>
              <a:spcAft>
                <a:spcPts val="1200"/>
              </a:spcAft>
              <a:defRPr sz="1600">
                <a:solidFill>
                  <a:srgbClr val="1E2152"/>
                </a:solidFill>
                <a:latin typeface="Arial"/>
              </a:defRPr>
            </a:pPr>
            <a:r>
              <a:t>Erfordert nur eine kurze, saubere Sprachaufnahme</a:t>
            </a:r>
          </a:p>
          <a:p>
            <a:pPr>
              <a:spcBef>
                <a:spcPts val="600"/>
              </a:spcBef>
              <a:spcAft>
                <a:spcPts val="1200"/>
              </a:spcAft>
              <a:defRPr sz="1600">
                <a:solidFill>
                  <a:srgbClr val="1E2152"/>
                </a:solidFill>
                <a:latin typeface="Arial"/>
              </a:defRPr>
            </a:pPr>
            <a:r>
              <a:t>Maximale persönliche Note für deine Videos</a:t>
            </a:r>
          </a:p>
          <a:p>
            <a:pPr>
              <a:spcBef>
                <a:spcPts val="600"/>
              </a:spcBef>
              <a:spcAft>
                <a:spcPts val="1200"/>
              </a:spcAft>
              <a:defRPr sz="1600">
                <a:solidFill>
                  <a:srgbClr val="1E2152"/>
                </a:solidFill>
                <a:latin typeface="Arial"/>
              </a:defRPr>
            </a:pPr>
            <a:r>
              <a:t>Niemand bemerkt den Unterschied zur echten Aufnahme</a:t>
            </a:r>
          </a:p>
        </p:txBody>
      </p:sp>
      <p:pic>
        <p:nvPicPr>
          <p:cNvPr id="7" name="Picture 6" descr="results_trophy.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12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Der Video-Generator im Einsatz</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Automatische Synchronisation von Bild und Ton</a:t>
            </a:r>
          </a:p>
          <a:p>
            <a:pPr>
              <a:spcBef>
                <a:spcPts val="600"/>
              </a:spcBef>
              <a:spcAft>
                <a:spcPts val="1200"/>
              </a:spcAft>
              <a:defRPr sz="1600">
                <a:solidFill>
                  <a:srgbClr val="1E2152"/>
                </a:solidFill>
                <a:latin typeface="Arial"/>
              </a:defRPr>
            </a:pPr>
            <a:r>
              <a:t>Erstellung von Einzelvideos pro Folie</a:t>
            </a:r>
          </a:p>
          <a:p>
            <a:pPr>
              <a:spcBef>
                <a:spcPts val="600"/>
              </a:spcBef>
              <a:spcAft>
                <a:spcPts val="1200"/>
              </a:spcAft>
              <a:defRPr sz="1600">
                <a:solidFill>
                  <a:srgbClr val="1E2152"/>
                </a:solidFill>
                <a:latin typeface="Arial"/>
              </a:defRPr>
            </a:pPr>
            <a:r>
              <a:t>Zusammenfügen zum finalen Gesamtvideo</a:t>
            </a:r>
          </a:p>
          <a:p>
            <a:pPr>
              <a:spcBef>
                <a:spcPts val="600"/>
              </a:spcBef>
              <a:spcAft>
                <a:spcPts val="1200"/>
              </a:spcAft>
              <a:defRPr sz="1600">
                <a:solidFill>
                  <a:srgbClr val="1E2152"/>
                </a:solidFill>
                <a:latin typeface="Arial"/>
              </a:defRPr>
            </a:pPr>
            <a:r>
              <a:t>Kein manueller Videoschnitt notwendig</a:t>
            </a:r>
          </a:p>
        </p:txBody>
      </p:sp>
      <p:pic>
        <p:nvPicPr>
          <p:cNvPr id="7" name="Picture 6" descr="toolbox.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13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PowerPoint (PPTX) Export</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Vollwertiger Download der PowerPoint-Datei</a:t>
            </a:r>
          </a:p>
          <a:p>
            <a:pPr>
              <a:spcBef>
                <a:spcPts val="600"/>
              </a:spcBef>
              <a:spcAft>
                <a:spcPts val="1200"/>
              </a:spcAft>
              <a:defRPr sz="1600">
                <a:solidFill>
                  <a:srgbClr val="1E2152"/>
                </a:solidFill>
                <a:latin typeface="Arial"/>
              </a:defRPr>
            </a:pPr>
            <a:r>
              <a:t>Folien und Texte bleiben 100% editierbar</a:t>
            </a:r>
          </a:p>
          <a:p>
            <a:pPr>
              <a:spcBef>
                <a:spcPts val="600"/>
              </a:spcBef>
              <a:spcAft>
                <a:spcPts val="1200"/>
              </a:spcAft>
              <a:defRPr sz="1600">
                <a:solidFill>
                  <a:srgbClr val="1E2152"/>
                </a:solidFill>
                <a:latin typeface="Arial"/>
              </a:defRPr>
            </a:pPr>
            <a:r>
              <a:t>Freie Wahl der Schriftarten und Layouts in Office</a:t>
            </a:r>
          </a:p>
          <a:p>
            <a:pPr>
              <a:spcBef>
                <a:spcPts val="600"/>
              </a:spcBef>
              <a:spcAft>
                <a:spcPts val="1200"/>
              </a:spcAft>
              <a:defRPr sz="1600">
                <a:solidFill>
                  <a:srgbClr val="1E2152"/>
                </a:solidFill>
                <a:latin typeface="Arial"/>
              </a:defRPr>
            </a:pPr>
            <a:r>
              <a:t>Perfekt für manuelle Nachbearbeitungen</a:t>
            </a:r>
          </a:p>
        </p:txBody>
      </p:sp>
      <p:pic>
        <p:nvPicPr>
          <p:cNvPr id="7" name="Picture 6" descr="results_trophy.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14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Versionierung und Klonen</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Erstelle mehrere Versionen eines Vortrags</a:t>
            </a:r>
          </a:p>
          <a:p>
            <a:pPr>
              <a:spcBef>
                <a:spcPts val="600"/>
              </a:spcBef>
              <a:spcAft>
                <a:spcPts val="1200"/>
              </a:spcAft>
              <a:defRPr sz="1600">
                <a:solidFill>
                  <a:srgbClr val="1E2152"/>
                </a:solidFill>
                <a:latin typeface="Arial"/>
              </a:defRPr>
            </a:pPr>
            <a:r>
              <a:t>Probiere verschiedene Prompts oder Modelle aus</a:t>
            </a:r>
          </a:p>
          <a:p>
            <a:pPr>
              <a:spcBef>
                <a:spcPts val="600"/>
              </a:spcBef>
              <a:spcAft>
                <a:spcPts val="1200"/>
              </a:spcAft>
              <a:defRPr sz="1600">
                <a:solidFill>
                  <a:srgbClr val="1E2152"/>
                </a:solidFill>
                <a:latin typeface="Arial"/>
              </a:defRPr>
            </a:pPr>
            <a:r>
              <a:t>Klonen per Knopfdruck sichert den aktuellen Stand</a:t>
            </a:r>
          </a:p>
          <a:p>
            <a:pPr>
              <a:spcBef>
                <a:spcPts val="600"/>
              </a:spcBef>
              <a:spcAft>
                <a:spcPts val="1200"/>
              </a:spcAft>
              <a:defRPr sz="1600">
                <a:solidFill>
                  <a:srgbClr val="1E2152"/>
                </a:solidFill>
                <a:latin typeface="Arial"/>
              </a:defRPr>
            </a:pPr>
            <a:r>
              <a:t>Vergleiche Entwürfe ohne Datenverlust</a:t>
            </a:r>
          </a:p>
        </p:txBody>
      </p:sp>
      <p:pic>
        <p:nvPicPr>
          <p:cNvPr id="7" name="Picture 6" descr="conductor.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15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Die H2-Datenbank im Hintergrund</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Lokale, sichere Speicherung aller Daten</a:t>
            </a:r>
          </a:p>
          <a:p>
            <a:pPr>
              <a:spcBef>
                <a:spcPts val="600"/>
              </a:spcBef>
              <a:spcAft>
                <a:spcPts val="1200"/>
              </a:spcAft>
              <a:defRPr sz="1600">
                <a:solidFill>
                  <a:srgbClr val="1E2152"/>
                </a:solidFill>
                <a:latin typeface="Arial"/>
              </a:defRPr>
            </a:pPr>
            <a:r>
              <a:t>Keine Cloud-Registrierung für deine Projekthistorie</a:t>
            </a:r>
          </a:p>
          <a:p>
            <a:pPr>
              <a:spcBef>
                <a:spcPts val="600"/>
              </a:spcBef>
              <a:spcAft>
                <a:spcPts val="1200"/>
              </a:spcAft>
              <a:defRPr sz="1600">
                <a:solidFill>
                  <a:srgbClr val="1E2152"/>
                </a:solidFill>
                <a:latin typeface="Arial"/>
              </a:defRPr>
            </a:pPr>
            <a:r>
              <a:t>Historie speichert genutzte Prompts</a:t>
            </a:r>
          </a:p>
          <a:p>
            <a:pPr>
              <a:spcBef>
                <a:spcPts val="600"/>
              </a:spcBef>
              <a:spcAft>
                <a:spcPts val="1200"/>
              </a:spcAft>
              <a:defRPr sz="1600">
                <a:solidFill>
                  <a:srgbClr val="1E2152"/>
                </a:solidFill>
                <a:latin typeface="Arial"/>
              </a:defRPr>
            </a:pPr>
            <a:r>
              <a:t>Schnelles Laden durch lokale Datenbank-Technologie</a:t>
            </a:r>
          </a:p>
        </p:txBody>
      </p:sp>
      <p:pic>
        <p:nvPicPr>
          <p:cNvPr id="7" name="Picture 6" descr="pc_doctor.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16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Flexibler Import vorhandener Folien</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Lade eine vorhandene PowerPoint-Datei hoch</a:t>
            </a:r>
          </a:p>
          <a:p>
            <a:pPr>
              <a:spcBef>
                <a:spcPts val="600"/>
              </a:spcBef>
              <a:spcAft>
                <a:spcPts val="1200"/>
              </a:spcAft>
              <a:defRPr sz="1600">
                <a:solidFill>
                  <a:srgbClr val="1E2152"/>
                </a:solidFill>
                <a:latin typeface="Arial"/>
              </a:defRPr>
            </a:pPr>
            <a:r>
              <a:t>Die KI analysiert und importiert die Folien</a:t>
            </a:r>
          </a:p>
          <a:p>
            <a:pPr>
              <a:spcBef>
                <a:spcPts val="600"/>
              </a:spcBef>
              <a:spcAft>
                <a:spcPts val="1200"/>
              </a:spcAft>
              <a:defRPr sz="1600">
                <a:solidFill>
                  <a:srgbClr val="1E2152"/>
                </a:solidFill>
                <a:latin typeface="Arial"/>
              </a:defRPr>
            </a:pPr>
            <a:r>
              <a:t>Füge nachträglich Sprechtexte und Vertonungen hinzu</a:t>
            </a:r>
          </a:p>
          <a:p>
            <a:pPr>
              <a:spcBef>
                <a:spcPts val="600"/>
              </a:spcBef>
              <a:spcAft>
                <a:spcPts val="1200"/>
              </a:spcAft>
              <a:defRPr sz="1600">
                <a:solidFill>
                  <a:srgbClr val="1E2152"/>
                </a:solidFill>
                <a:latin typeface="Arial"/>
              </a:defRPr>
            </a:pPr>
            <a:r>
              <a:t>Mache aus alten Folien moderne Videos</a:t>
            </a:r>
          </a:p>
        </p:txBody>
      </p:sp>
      <p:pic>
        <p:nvPicPr>
          <p:cNvPr id="7" name="Picture 6" descr="toolbox.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17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Warum das Tool begeistert (Der Nutzen)</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Zeitersparnis von bis zu 90%</a:t>
            </a:r>
          </a:p>
          <a:p>
            <a:pPr>
              <a:spcBef>
                <a:spcPts val="600"/>
              </a:spcBef>
              <a:spcAft>
                <a:spcPts val="1200"/>
              </a:spcAft>
              <a:defRPr sz="1600">
                <a:solidFill>
                  <a:srgbClr val="1E2152"/>
                </a:solidFill>
                <a:latin typeface="Arial"/>
              </a:defRPr>
            </a:pPr>
            <a:r>
              <a:t>Keine Angst mehr vor dem leeren Blatt</a:t>
            </a:r>
          </a:p>
          <a:p>
            <a:pPr>
              <a:spcBef>
                <a:spcPts val="600"/>
              </a:spcBef>
              <a:spcAft>
                <a:spcPts val="1200"/>
              </a:spcAft>
              <a:defRPr sz="1600">
                <a:solidFill>
                  <a:srgbClr val="1E2152"/>
                </a:solidFill>
                <a:latin typeface="Arial"/>
              </a:defRPr>
            </a:pPr>
            <a:r>
              <a:t>Professioneller Auftritt in Bild und Ton</a:t>
            </a:r>
          </a:p>
          <a:p>
            <a:pPr>
              <a:spcBef>
                <a:spcPts val="600"/>
              </a:spcBef>
              <a:spcAft>
                <a:spcPts val="1200"/>
              </a:spcAft>
              <a:defRPr sz="1600">
                <a:solidFill>
                  <a:srgbClr val="1E2152"/>
                </a:solidFill>
                <a:latin typeface="Arial"/>
              </a:defRPr>
            </a:pPr>
            <a:r>
              <a:t>Mehr Fokus auf die Botschaft statt auf die Technik</a:t>
            </a:r>
          </a:p>
        </p:txBody>
      </p:sp>
      <p:pic>
        <p:nvPicPr>
          <p:cNvPr id="7" name="Picture 6" descr="speed_boost.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18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Anwendungsbereiche des Generators</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Schulungsvideos und Tutorials für Mitarbeiter</a:t>
            </a:r>
          </a:p>
          <a:p>
            <a:pPr>
              <a:spcBef>
                <a:spcPts val="600"/>
              </a:spcBef>
              <a:spcAft>
                <a:spcPts val="1200"/>
              </a:spcAft>
              <a:defRPr sz="1600">
                <a:solidFill>
                  <a:srgbClr val="1E2152"/>
                </a:solidFill>
                <a:latin typeface="Arial"/>
              </a:defRPr>
            </a:pPr>
            <a:r>
              <a:t>Einfache Produktpräsentationen für Kunden</a:t>
            </a:r>
          </a:p>
          <a:p>
            <a:pPr>
              <a:spcBef>
                <a:spcPts val="600"/>
              </a:spcBef>
              <a:spcAft>
                <a:spcPts val="1200"/>
              </a:spcAft>
              <a:defRPr sz="1600">
                <a:solidFill>
                  <a:srgbClr val="1E2152"/>
                </a:solidFill>
                <a:latin typeface="Arial"/>
              </a:defRPr>
            </a:pPr>
            <a:r>
              <a:t>Referate und Vorträge für Schule und Studium</a:t>
            </a:r>
          </a:p>
          <a:p>
            <a:pPr>
              <a:spcBef>
                <a:spcPts val="600"/>
              </a:spcBef>
              <a:spcAft>
                <a:spcPts val="1200"/>
              </a:spcAft>
              <a:defRPr sz="1600">
                <a:solidFill>
                  <a:srgbClr val="1E2152"/>
                </a:solidFill>
                <a:latin typeface="Arial"/>
              </a:defRPr>
            </a:pPr>
            <a:r>
              <a:t>Social Media Beiträge und Kurzerklärungen</a:t>
            </a:r>
          </a:p>
        </p:txBody>
      </p:sp>
      <p:pic>
        <p:nvPicPr>
          <p:cNvPr id="7" name="Picture 6" descr="mascot_hello.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19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So startest du durch (Die 3 Schritte)</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Schritt 1: API-Keys eintragen (OpenRouter &amp; ElevenLabs)</a:t>
            </a:r>
          </a:p>
          <a:p>
            <a:pPr>
              <a:spcBef>
                <a:spcPts val="600"/>
              </a:spcBef>
              <a:spcAft>
                <a:spcPts val="1200"/>
              </a:spcAft>
              <a:defRPr sz="1600">
                <a:solidFill>
                  <a:srgbClr val="1E2152"/>
                </a:solidFill>
                <a:latin typeface="Arial"/>
              </a:defRPr>
            </a:pPr>
            <a:r>
              <a:t>Schritt 2: Prompt eingeben oder Folien hochladen</a:t>
            </a:r>
          </a:p>
          <a:p>
            <a:pPr>
              <a:spcBef>
                <a:spcPts val="600"/>
              </a:spcBef>
              <a:spcAft>
                <a:spcPts val="1200"/>
              </a:spcAft>
              <a:defRPr sz="1600">
                <a:solidFill>
                  <a:srgbClr val="1E2152"/>
                </a:solidFill>
                <a:latin typeface="Arial"/>
              </a:defRPr>
            </a:pPr>
            <a:r>
              <a:t>Schritt 3: Generieren drücken und Video herunterladen</a:t>
            </a:r>
          </a:p>
        </p:txBody>
      </p:sp>
      <p:pic>
        <p:nvPicPr>
          <p:cNvPr id="7" name="Picture 6" descr="conductor.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TextBox 1"/>
          <p:cNvSpPr txBox="1"/>
          <p:nvPr/>
        </p:nvSpPr>
        <p:spPr>
          <a:xfrm>
            <a:off x="548640" y="6309360"/>
            <a:ext cx="5486400" cy="274320"/>
          </a:xfrm>
          <a:prstGeom prst="rect">
            <a:avLst/>
          </a:prstGeom>
          <a:noFill/>
        </p:spPr>
        <p:txBody>
          <a:bodyPr wrap="square">
            <a:spAutoFit/>
          </a:bodyPr>
          <a:lstStyle/>
          <a:p>
            <a:pPr>
              <a:defRPr sz="1000">
                <a:solidFill>
                  <a:srgbClr val="8E92F0"/>
                </a:solidFill>
                <a:latin typeface="Arial"/>
              </a:defRPr>
            </a:pPr>
            <a:r>
              <a:t>Vortragsgenerator</a:t>
            </a:r>
          </a:p>
        </p:txBody>
      </p:sp>
      <p:sp>
        <p:nvSpPr>
          <p:cNvPr id="3" name="TextBox 2"/>
          <p:cNvSpPr txBox="1"/>
          <p:nvPr/>
        </p:nvSpPr>
        <p:spPr>
          <a:xfrm>
            <a:off x="9601200" y="6309360"/>
            <a:ext cx="2011680" cy="274320"/>
          </a:xfrm>
          <a:prstGeom prst="rect">
            <a:avLst/>
          </a:prstGeom>
          <a:noFill/>
        </p:spPr>
        <p:txBody>
          <a:bodyPr wrap="square">
            <a:spAutoFit/>
          </a:bodyPr>
          <a:lstStyle/>
          <a:p>
            <a:pPr algn="r">
              <a:defRPr sz="1000">
                <a:solidFill>
                  <a:srgbClr val="8E92F0"/>
                </a:solidFill>
                <a:latin typeface="Arial"/>
              </a:defRPr>
            </a:pPr>
            <a:r>
              <a:t>Folie 20 von 20</a:t>
            </a:r>
          </a:p>
        </p:txBody>
      </p:sp>
      <p:sp>
        <p:nvSpPr>
          <p:cNvPr id="4" name="TextBox 3"/>
          <p:cNvSpPr txBox="1"/>
          <p:nvPr/>
        </p:nvSpPr>
        <p:spPr>
          <a:xfrm>
            <a:off x="548640" y="457200"/>
            <a:ext cx="10972800" cy="731520"/>
          </a:xfrm>
          <a:prstGeom prst="rect">
            <a:avLst/>
          </a:prstGeom>
          <a:noFill/>
        </p:spPr>
        <p:txBody>
          <a:bodyPr wrap="square">
            <a:spAutoFit/>
          </a:bodyPr>
          <a:lstStyle/>
          <a:p>
            <a:pPr>
              <a:defRPr sz="3200" b="1">
                <a:solidFill>
                  <a:srgbClr val="1E2152"/>
                </a:solidFill>
                <a:latin typeface="Arial"/>
              </a:defRPr>
            </a:pPr>
            <a:r>
              <a:t>Zusammenfassung &amp; Ausblick</a:t>
            </a:r>
          </a:p>
        </p:txBody>
      </p:sp>
      <p:sp>
        <p:nvSpPr>
          <p:cNvPr id="5" name="Rectangle 4"/>
          <p:cNvSpPr/>
          <p:nvPr/>
        </p:nvSpPr>
        <p:spPr>
          <a:xfrm>
            <a:off x="548640" y="1143000"/>
            <a:ext cx="5303520" cy="36576"/>
          </a:xfrm>
          <a:prstGeom prst="rect">
            <a:avLst/>
          </a:prstGeom>
          <a:solidFill>
            <a:srgbClr val="FF7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03520" cy="4389120"/>
          </a:xfrm>
          <a:prstGeom prst="rect">
            <a:avLst/>
          </a:prstGeom>
          <a:noFill/>
        </p:spPr>
        <p:txBody>
          <a:bodyPr wrap="square">
            <a:spAutoFit/>
          </a:bodyPr>
          <a:lstStyle/>
          <a:p>
            <a:pPr>
              <a:spcBef>
                <a:spcPts val="600"/>
              </a:spcBef>
              <a:spcAft>
                <a:spcPts val="1200"/>
              </a:spcAft>
              <a:defRPr sz="1600">
                <a:solidFill>
                  <a:srgbClr val="1E2152"/>
                </a:solidFill>
                <a:latin typeface="Arial"/>
              </a:defRPr>
            </a:pPr>
            <a:r>
              <a:t>Der Vortragsgenerator macht Videoerstellung für jeden möglich</a:t>
            </a:r>
          </a:p>
          <a:p>
            <a:pPr>
              <a:spcBef>
                <a:spcPts val="600"/>
              </a:spcBef>
              <a:spcAft>
                <a:spcPts val="1200"/>
              </a:spcAft>
              <a:defRPr sz="1600">
                <a:solidFill>
                  <a:srgbClr val="1E2152"/>
                </a:solidFill>
                <a:latin typeface="Arial"/>
              </a:defRPr>
            </a:pPr>
            <a:r>
              <a:t>Professionelle Ergebnisse ohne teures Equipment</a:t>
            </a:r>
          </a:p>
          <a:p>
            <a:pPr>
              <a:spcBef>
                <a:spcPts val="600"/>
              </a:spcBef>
              <a:spcAft>
                <a:spcPts val="1200"/>
              </a:spcAft>
              <a:defRPr sz="1600">
                <a:solidFill>
                  <a:srgbClr val="1E2152"/>
                </a:solidFill>
                <a:latin typeface="Arial"/>
              </a:defRPr>
            </a:pPr>
            <a:r>
              <a:t>Deine Stimme, deine Folien, vollautomatisch</a:t>
            </a:r>
          </a:p>
          <a:p>
            <a:pPr>
              <a:spcBef>
                <a:spcPts val="600"/>
              </a:spcBef>
              <a:spcAft>
                <a:spcPts val="1200"/>
              </a:spcAft>
              <a:defRPr sz="1600">
                <a:solidFill>
                  <a:srgbClr val="1E2152"/>
                </a:solidFill>
                <a:latin typeface="Arial"/>
              </a:defRPr>
            </a:pPr>
            <a:r>
              <a:t>Probiere es jetzt aus und lass dich begeistern!</a:t>
            </a:r>
          </a:p>
        </p:txBody>
      </p:sp>
      <p:pic>
        <p:nvPicPr>
          <p:cNvPr id="7" name="Picture 6" descr="results_trophy.png"/>
          <p:cNvPicPr>
            <a:picLocks noChangeAspect="1"/>
          </p:cNvPicPr>
          <p:nvPr/>
        </p:nvPicPr>
        <p:blipFill>
          <a:blip r:embed="rId3"/>
          <a:stretch>
            <a:fillRect/>
          </a:stretch>
        </p:blipFill>
        <p:spPr>
          <a:xfrm>
            <a:off x="6217920" y="1280160"/>
            <a:ext cx="4937760" cy="4389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